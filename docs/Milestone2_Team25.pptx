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63" r:id="rId5"/>
    <p:sldId id="26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4791E5-BB69-FDA8-46F1-4B707539A264}" v="229" dt="2024-10-02T17:47:59.164"/>
    <p1510:client id="{B5834E28-7E57-3255-0764-064060F558AE}" v="503" dt="2024-10-01T22:26:47.739"/>
    <p1510:client id="{B6572ECA-4253-44A1-9235-1E76F36791FB}" v="18" dt="2024-10-01T23:30:28.200"/>
    <p1510:client id="{E32C9504-4040-17FB-F5A4-8A0868B22983}" v="383" dt="2024-10-02T13:36:05.6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6BE056-4A9E-CC4F-AEEC-DFA91FA846B0}" type="datetimeFigureOut">
              <a:rPr lang="en-US" smtClean="0"/>
              <a:t>10/9/2024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E59D6A-847E-CF4F-A677-61AE7D443AA1}" type="slidenum">
              <a:rPr lang="en-US" smtClean="0"/>
              <a:t>‹#›</a:t>
            </a:fld>
            <a:endParaRPr lang="en-US"/>
          </a:p>
        </p:txBody>
      </p:sp>
    </p:spTree>
    <p:extLst>
      <p:ext uri="{BB962C8B-B14F-4D97-AF65-F5344CB8AC3E}">
        <p14:creationId xmlns:p14="http://schemas.microsoft.com/office/powerpoint/2010/main" val="2170460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614CE-8B8F-20CB-1E56-8B4D4D0129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06261E8-CE5C-3A08-A178-2E68D415DE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F49CB2-7F94-0C75-953D-82CF2CE7E11B}"/>
              </a:ext>
            </a:extLst>
          </p:cNvPr>
          <p:cNvSpPr>
            <a:spLocks noGrp="1"/>
          </p:cNvSpPr>
          <p:nvPr>
            <p:ph type="dt" sz="half" idx="10"/>
          </p:nvPr>
        </p:nvSpPr>
        <p:spPr/>
        <p:txBody>
          <a:bodyPr/>
          <a:lstStyle/>
          <a:p>
            <a:fld id="{E91CE24E-1A7D-1644-8A89-44A7DECCC6F0}" type="datetimeFigureOut">
              <a:rPr lang="en-US" smtClean="0"/>
              <a:t>10/9/2024</a:t>
            </a:fld>
            <a:endParaRPr lang="en-US"/>
          </a:p>
        </p:txBody>
      </p:sp>
      <p:sp>
        <p:nvSpPr>
          <p:cNvPr id="5" name="Footer Placeholder 4">
            <a:extLst>
              <a:ext uri="{FF2B5EF4-FFF2-40B4-BE49-F238E27FC236}">
                <a16:creationId xmlns:a16="http://schemas.microsoft.com/office/drawing/2014/main" id="{A127FF16-8C83-EE1A-011A-ADA202E8C6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5078C6-692A-E3BB-F6AE-41E1202C8B7C}"/>
              </a:ext>
            </a:extLst>
          </p:cNvPr>
          <p:cNvSpPr>
            <a:spLocks noGrp="1"/>
          </p:cNvSpPr>
          <p:nvPr>
            <p:ph type="sldNum" sz="quarter" idx="12"/>
          </p:nvPr>
        </p:nvSpPr>
        <p:spPr/>
        <p:txBody>
          <a:bodyPr/>
          <a:lstStyle/>
          <a:p>
            <a:fld id="{516BA87F-B22B-1245-ADF2-6711CA71205F}" type="slidenum">
              <a:rPr lang="en-US" smtClean="0"/>
              <a:t>‹#›</a:t>
            </a:fld>
            <a:endParaRPr lang="en-US"/>
          </a:p>
        </p:txBody>
      </p:sp>
    </p:spTree>
    <p:extLst>
      <p:ext uri="{BB962C8B-B14F-4D97-AF65-F5344CB8AC3E}">
        <p14:creationId xmlns:p14="http://schemas.microsoft.com/office/powerpoint/2010/main" val="2843572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2502C-3443-9905-ECB7-B88A9B5414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14576B-682D-CD0E-16D6-B22E2E719A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E5526A-E294-AB0C-BB16-F1E689E68558}"/>
              </a:ext>
            </a:extLst>
          </p:cNvPr>
          <p:cNvSpPr>
            <a:spLocks noGrp="1"/>
          </p:cNvSpPr>
          <p:nvPr>
            <p:ph type="dt" sz="half" idx="10"/>
          </p:nvPr>
        </p:nvSpPr>
        <p:spPr/>
        <p:txBody>
          <a:bodyPr/>
          <a:lstStyle/>
          <a:p>
            <a:fld id="{E91CE24E-1A7D-1644-8A89-44A7DECCC6F0}" type="datetimeFigureOut">
              <a:rPr lang="en-US" smtClean="0"/>
              <a:t>10/9/2024</a:t>
            </a:fld>
            <a:endParaRPr lang="en-US"/>
          </a:p>
        </p:txBody>
      </p:sp>
      <p:sp>
        <p:nvSpPr>
          <p:cNvPr id="5" name="Footer Placeholder 4">
            <a:extLst>
              <a:ext uri="{FF2B5EF4-FFF2-40B4-BE49-F238E27FC236}">
                <a16:creationId xmlns:a16="http://schemas.microsoft.com/office/drawing/2014/main" id="{39EC5FF7-E8F9-932A-9E6F-B26820E6F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5C7EFA-4108-B28A-22EB-10E7A60D3BF0}"/>
              </a:ext>
            </a:extLst>
          </p:cNvPr>
          <p:cNvSpPr>
            <a:spLocks noGrp="1"/>
          </p:cNvSpPr>
          <p:nvPr>
            <p:ph type="sldNum" sz="quarter" idx="12"/>
          </p:nvPr>
        </p:nvSpPr>
        <p:spPr/>
        <p:txBody>
          <a:bodyPr/>
          <a:lstStyle/>
          <a:p>
            <a:fld id="{516BA87F-B22B-1245-ADF2-6711CA71205F}" type="slidenum">
              <a:rPr lang="en-US" smtClean="0"/>
              <a:t>‹#›</a:t>
            </a:fld>
            <a:endParaRPr lang="en-US"/>
          </a:p>
        </p:txBody>
      </p:sp>
    </p:spTree>
    <p:extLst>
      <p:ext uri="{BB962C8B-B14F-4D97-AF65-F5344CB8AC3E}">
        <p14:creationId xmlns:p14="http://schemas.microsoft.com/office/powerpoint/2010/main" val="3635970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271D1-3ABC-DBE7-46FB-BA2C3CB24E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202732-E239-66E3-51DF-1A2500B1ECF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513032-A04A-DBB9-8A6D-4C6804AD00F7}"/>
              </a:ext>
            </a:extLst>
          </p:cNvPr>
          <p:cNvSpPr>
            <a:spLocks noGrp="1"/>
          </p:cNvSpPr>
          <p:nvPr>
            <p:ph type="dt" sz="half" idx="10"/>
          </p:nvPr>
        </p:nvSpPr>
        <p:spPr/>
        <p:txBody>
          <a:bodyPr/>
          <a:lstStyle/>
          <a:p>
            <a:fld id="{E91CE24E-1A7D-1644-8A89-44A7DECCC6F0}" type="datetimeFigureOut">
              <a:rPr lang="en-US" smtClean="0"/>
              <a:t>10/9/2024</a:t>
            </a:fld>
            <a:endParaRPr lang="en-US"/>
          </a:p>
        </p:txBody>
      </p:sp>
      <p:sp>
        <p:nvSpPr>
          <p:cNvPr id="5" name="Footer Placeholder 4">
            <a:extLst>
              <a:ext uri="{FF2B5EF4-FFF2-40B4-BE49-F238E27FC236}">
                <a16:creationId xmlns:a16="http://schemas.microsoft.com/office/drawing/2014/main" id="{E0A8EDC9-5C65-BA11-B2A2-B5361FB9F2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04FABF-0871-FFE4-AF1F-9B4FF87F8F92}"/>
              </a:ext>
            </a:extLst>
          </p:cNvPr>
          <p:cNvSpPr>
            <a:spLocks noGrp="1"/>
          </p:cNvSpPr>
          <p:nvPr>
            <p:ph type="sldNum" sz="quarter" idx="12"/>
          </p:nvPr>
        </p:nvSpPr>
        <p:spPr/>
        <p:txBody>
          <a:bodyPr/>
          <a:lstStyle/>
          <a:p>
            <a:fld id="{516BA87F-B22B-1245-ADF2-6711CA71205F}" type="slidenum">
              <a:rPr lang="en-US" smtClean="0"/>
              <a:t>‹#›</a:t>
            </a:fld>
            <a:endParaRPr lang="en-US"/>
          </a:p>
        </p:txBody>
      </p:sp>
    </p:spTree>
    <p:extLst>
      <p:ext uri="{BB962C8B-B14F-4D97-AF65-F5344CB8AC3E}">
        <p14:creationId xmlns:p14="http://schemas.microsoft.com/office/powerpoint/2010/main" val="4255436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3B294-846A-8148-CED2-0BDBE60486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45A7E5-1BA4-FD4F-F6B8-7B8668BBAA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55DA06-90C9-3098-0F4D-3E63F3AABB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980AAD-DE46-AACC-125D-21C358EE0CF8}"/>
              </a:ext>
            </a:extLst>
          </p:cNvPr>
          <p:cNvSpPr>
            <a:spLocks noGrp="1"/>
          </p:cNvSpPr>
          <p:nvPr>
            <p:ph type="dt" sz="half" idx="10"/>
          </p:nvPr>
        </p:nvSpPr>
        <p:spPr/>
        <p:txBody>
          <a:bodyPr/>
          <a:lstStyle/>
          <a:p>
            <a:fld id="{E91CE24E-1A7D-1644-8A89-44A7DECCC6F0}" type="datetimeFigureOut">
              <a:rPr lang="en-US" smtClean="0"/>
              <a:t>10/9/2024</a:t>
            </a:fld>
            <a:endParaRPr lang="en-US"/>
          </a:p>
        </p:txBody>
      </p:sp>
      <p:sp>
        <p:nvSpPr>
          <p:cNvPr id="6" name="Footer Placeholder 5">
            <a:extLst>
              <a:ext uri="{FF2B5EF4-FFF2-40B4-BE49-F238E27FC236}">
                <a16:creationId xmlns:a16="http://schemas.microsoft.com/office/drawing/2014/main" id="{D47478EA-8062-2F5D-DE27-331445CB98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EA37B8-8BE0-1D2D-E6C2-D63D1501C4D3}"/>
              </a:ext>
            </a:extLst>
          </p:cNvPr>
          <p:cNvSpPr>
            <a:spLocks noGrp="1"/>
          </p:cNvSpPr>
          <p:nvPr>
            <p:ph type="sldNum" sz="quarter" idx="12"/>
          </p:nvPr>
        </p:nvSpPr>
        <p:spPr/>
        <p:txBody>
          <a:bodyPr/>
          <a:lstStyle/>
          <a:p>
            <a:fld id="{516BA87F-B22B-1245-ADF2-6711CA71205F}" type="slidenum">
              <a:rPr lang="en-US" smtClean="0"/>
              <a:t>‹#›</a:t>
            </a:fld>
            <a:endParaRPr lang="en-US"/>
          </a:p>
        </p:txBody>
      </p:sp>
    </p:spTree>
    <p:extLst>
      <p:ext uri="{BB962C8B-B14F-4D97-AF65-F5344CB8AC3E}">
        <p14:creationId xmlns:p14="http://schemas.microsoft.com/office/powerpoint/2010/main" val="2756953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0A41B-317B-6ECD-0B7C-1FEEFF88D3B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ECDAB52-9B36-0506-AD85-F4882DF615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899D6-722F-E891-B296-3C19D81B26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38F94E-B0B7-A05E-B231-EAE42CFD38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F9BBC8-D06F-DFC4-2C29-E27A635005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A914AF5-C057-43B0-E564-6619B8EF2693}"/>
              </a:ext>
            </a:extLst>
          </p:cNvPr>
          <p:cNvSpPr>
            <a:spLocks noGrp="1"/>
          </p:cNvSpPr>
          <p:nvPr>
            <p:ph type="dt" sz="half" idx="10"/>
          </p:nvPr>
        </p:nvSpPr>
        <p:spPr/>
        <p:txBody>
          <a:bodyPr/>
          <a:lstStyle/>
          <a:p>
            <a:fld id="{E91CE24E-1A7D-1644-8A89-44A7DECCC6F0}" type="datetimeFigureOut">
              <a:rPr lang="en-US" smtClean="0"/>
              <a:t>10/9/2024</a:t>
            </a:fld>
            <a:endParaRPr lang="en-US"/>
          </a:p>
        </p:txBody>
      </p:sp>
      <p:sp>
        <p:nvSpPr>
          <p:cNvPr id="8" name="Footer Placeholder 7">
            <a:extLst>
              <a:ext uri="{FF2B5EF4-FFF2-40B4-BE49-F238E27FC236}">
                <a16:creationId xmlns:a16="http://schemas.microsoft.com/office/drawing/2014/main" id="{D9C52D28-FE18-297A-76FD-2470028146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21B7CF-966B-99E3-F5FB-61CC374DC760}"/>
              </a:ext>
            </a:extLst>
          </p:cNvPr>
          <p:cNvSpPr>
            <a:spLocks noGrp="1"/>
          </p:cNvSpPr>
          <p:nvPr>
            <p:ph type="sldNum" sz="quarter" idx="12"/>
          </p:nvPr>
        </p:nvSpPr>
        <p:spPr/>
        <p:txBody>
          <a:bodyPr/>
          <a:lstStyle/>
          <a:p>
            <a:fld id="{516BA87F-B22B-1245-ADF2-6711CA71205F}" type="slidenum">
              <a:rPr lang="en-US" smtClean="0"/>
              <a:t>‹#›</a:t>
            </a:fld>
            <a:endParaRPr lang="en-US"/>
          </a:p>
        </p:txBody>
      </p:sp>
    </p:spTree>
    <p:extLst>
      <p:ext uri="{BB962C8B-B14F-4D97-AF65-F5344CB8AC3E}">
        <p14:creationId xmlns:p14="http://schemas.microsoft.com/office/powerpoint/2010/main" val="4084691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86BEA-0B8E-7770-A147-0BD8BA653B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848C98-D15C-F396-46BE-12F7EDB14C29}"/>
              </a:ext>
            </a:extLst>
          </p:cNvPr>
          <p:cNvSpPr>
            <a:spLocks noGrp="1"/>
          </p:cNvSpPr>
          <p:nvPr>
            <p:ph type="dt" sz="half" idx="10"/>
          </p:nvPr>
        </p:nvSpPr>
        <p:spPr/>
        <p:txBody>
          <a:bodyPr/>
          <a:lstStyle/>
          <a:p>
            <a:fld id="{E91CE24E-1A7D-1644-8A89-44A7DECCC6F0}" type="datetimeFigureOut">
              <a:rPr lang="en-US" smtClean="0"/>
              <a:t>10/9/2024</a:t>
            </a:fld>
            <a:endParaRPr lang="en-US"/>
          </a:p>
        </p:txBody>
      </p:sp>
      <p:sp>
        <p:nvSpPr>
          <p:cNvPr id="4" name="Footer Placeholder 3">
            <a:extLst>
              <a:ext uri="{FF2B5EF4-FFF2-40B4-BE49-F238E27FC236}">
                <a16:creationId xmlns:a16="http://schemas.microsoft.com/office/drawing/2014/main" id="{63BE4F11-AFC0-C5CF-A9FA-A44EC7FCC2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6F1D578-BDC5-A63F-7F31-347B9D59A5DF}"/>
              </a:ext>
            </a:extLst>
          </p:cNvPr>
          <p:cNvSpPr>
            <a:spLocks noGrp="1"/>
          </p:cNvSpPr>
          <p:nvPr>
            <p:ph type="sldNum" sz="quarter" idx="12"/>
          </p:nvPr>
        </p:nvSpPr>
        <p:spPr/>
        <p:txBody>
          <a:bodyPr/>
          <a:lstStyle/>
          <a:p>
            <a:fld id="{516BA87F-B22B-1245-ADF2-6711CA71205F}" type="slidenum">
              <a:rPr lang="en-US" smtClean="0"/>
              <a:t>‹#›</a:t>
            </a:fld>
            <a:endParaRPr lang="en-US"/>
          </a:p>
        </p:txBody>
      </p:sp>
    </p:spTree>
    <p:extLst>
      <p:ext uri="{BB962C8B-B14F-4D97-AF65-F5344CB8AC3E}">
        <p14:creationId xmlns:p14="http://schemas.microsoft.com/office/powerpoint/2010/main" val="1338518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341176-1242-9055-2AF4-B8F05B69D46E}"/>
              </a:ext>
            </a:extLst>
          </p:cNvPr>
          <p:cNvSpPr>
            <a:spLocks noGrp="1"/>
          </p:cNvSpPr>
          <p:nvPr>
            <p:ph type="dt" sz="half" idx="10"/>
          </p:nvPr>
        </p:nvSpPr>
        <p:spPr/>
        <p:txBody>
          <a:bodyPr/>
          <a:lstStyle/>
          <a:p>
            <a:fld id="{E91CE24E-1A7D-1644-8A89-44A7DECCC6F0}" type="datetimeFigureOut">
              <a:rPr lang="en-US" smtClean="0"/>
              <a:t>10/9/2024</a:t>
            </a:fld>
            <a:endParaRPr lang="en-US"/>
          </a:p>
        </p:txBody>
      </p:sp>
      <p:sp>
        <p:nvSpPr>
          <p:cNvPr id="3" name="Footer Placeholder 2">
            <a:extLst>
              <a:ext uri="{FF2B5EF4-FFF2-40B4-BE49-F238E27FC236}">
                <a16:creationId xmlns:a16="http://schemas.microsoft.com/office/drawing/2014/main" id="{6AF56779-D656-A6A0-3FBB-B57A2EB3F1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263766-F287-446A-25C3-BCB0E23B8D9F}"/>
              </a:ext>
            </a:extLst>
          </p:cNvPr>
          <p:cNvSpPr>
            <a:spLocks noGrp="1"/>
          </p:cNvSpPr>
          <p:nvPr>
            <p:ph type="sldNum" sz="quarter" idx="12"/>
          </p:nvPr>
        </p:nvSpPr>
        <p:spPr/>
        <p:txBody>
          <a:bodyPr/>
          <a:lstStyle/>
          <a:p>
            <a:fld id="{516BA87F-B22B-1245-ADF2-6711CA71205F}" type="slidenum">
              <a:rPr lang="en-US" smtClean="0"/>
              <a:t>‹#›</a:t>
            </a:fld>
            <a:endParaRPr lang="en-US"/>
          </a:p>
        </p:txBody>
      </p:sp>
    </p:spTree>
    <p:extLst>
      <p:ext uri="{BB962C8B-B14F-4D97-AF65-F5344CB8AC3E}">
        <p14:creationId xmlns:p14="http://schemas.microsoft.com/office/powerpoint/2010/main" val="3409280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C99C7-8A4C-6D37-0B1D-346CD11EBB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88289C-F5B0-2F6F-CEAC-6FD5E876A5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35419A-488A-6EB7-4799-9AD4FDB220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3A70C0-8D32-47D7-18C6-C0BDB09870CF}"/>
              </a:ext>
            </a:extLst>
          </p:cNvPr>
          <p:cNvSpPr>
            <a:spLocks noGrp="1"/>
          </p:cNvSpPr>
          <p:nvPr>
            <p:ph type="dt" sz="half" idx="10"/>
          </p:nvPr>
        </p:nvSpPr>
        <p:spPr/>
        <p:txBody>
          <a:bodyPr/>
          <a:lstStyle/>
          <a:p>
            <a:fld id="{E91CE24E-1A7D-1644-8A89-44A7DECCC6F0}" type="datetimeFigureOut">
              <a:rPr lang="en-US" smtClean="0"/>
              <a:t>10/9/2024</a:t>
            </a:fld>
            <a:endParaRPr lang="en-US"/>
          </a:p>
        </p:txBody>
      </p:sp>
      <p:sp>
        <p:nvSpPr>
          <p:cNvPr id="6" name="Footer Placeholder 5">
            <a:extLst>
              <a:ext uri="{FF2B5EF4-FFF2-40B4-BE49-F238E27FC236}">
                <a16:creationId xmlns:a16="http://schemas.microsoft.com/office/drawing/2014/main" id="{E1FB0618-D948-3127-B14D-5FC69FAA55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45A106-47B1-A5A8-EEAC-E421296438CA}"/>
              </a:ext>
            </a:extLst>
          </p:cNvPr>
          <p:cNvSpPr>
            <a:spLocks noGrp="1"/>
          </p:cNvSpPr>
          <p:nvPr>
            <p:ph type="sldNum" sz="quarter" idx="12"/>
          </p:nvPr>
        </p:nvSpPr>
        <p:spPr/>
        <p:txBody>
          <a:bodyPr/>
          <a:lstStyle/>
          <a:p>
            <a:fld id="{516BA87F-B22B-1245-ADF2-6711CA71205F}" type="slidenum">
              <a:rPr lang="en-US" smtClean="0"/>
              <a:t>‹#›</a:t>
            </a:fld>
            <a:endParaRPr lang="en-US"/>
          </a:p>
        </p:txBody>
      </p:sp>
    </p:spTree>
    <p:extLst>
      <p:ext uri="{BB962C8B-B14F-4D97-AF65-F5344CB8AC3E}">
        <p14:creationId xmlns:p14="http://schemas.microsoft.com/office/powerpoint/2010/main" val="2159087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FAA5E-D04A-2EF9-6BF0-FFF3AC1BEB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51B102-C17F-089F-FC42-16D4640BA1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9221BF-D9B8-0EBE-E474-01BE4179FB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743597-6184-C971-93A7-3C258B2E1792}"/>
              </a:ext>
            </a:extLst>
          </p:cNvPr>
          <p:cNvSpPr>
            <a:spLocks noGrp="1"/>
          </p:cNvSpPr>
          <p:nvPr>
            <p:ph type="dt" sz="half" idx="10"/>
          </p:nvPr>
        </p:nvSpPr>
        <p:spPr/>
        <p:txBody>
          <a:bodyPr/>
          <a:lstStyle/>
          <a:p>
            <a:fld id="{E91CE24E-1A7D-1644-8A89-44A7DECCC6F0}" type="datetimeFigureOut">
              <a:rPr lang="en-US" smtClean="0"/>
              <a:t>10/9/2024</a:t>
            </a:fld>
            <a:endParaRPr lang="en-US"/>
          </a:p>
        </p:txBody>
      </p:sp>
      <p:sp>
        <p:nvSpPr>
          <p:cNvPr id="6" name="Footer Placeholder 5">
            <a:extLst>
              <a:ext uri="{FF2B5EF4-FFF2-40B4-BE49-F238E27FC236}">
                <a16:creationId xmlns:a16="http://schemas.microsoft.com/office/drawing/2014/main" id="{EC9FBB9C-56AA-A6F3-F55E-59B6AC1C37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5DB8FF-5567-6149-E490-A22299813E7C}"/>
              </a:ext>
            </a:extLst>
          </p:cNvPr>
          <p:cNvSpPr>
            <a:spLocks noGrp="1"/>
          </p:cNvSpPr>
          <p:nvPr>
            <p:ph type="sldNum" sz="quarter" idx="12"/>
          </p:nvPr>
        </p:nvSpPr>
        <p:spPr/>
        <p:txBody>
          <a:bodyPr/>
          <a:lstStyle/>
          <a:p>
            <a:fld id="{516BA87F-B22B-1245-ADF2-6711CA71205F}" type="slidenum">
              <a:rPr lang="en-US" smtClean="0"/>
              <a:t>‹#›</a:t>
            </a:fld>
            <a:endParaRPr lang="en-US"/>
          </a:p>
        </p:txBody>
      </p:sp>
    </p:spTree>
    <p:extLst>
      <p:ext uri="{BB962C8B-B14F-4D97-AF65-F5344CB8AC3E}">
        <p14:creationId xmlns:p14="http://schemas.microsoft.com/office/powerpoint/2010/main" val="3703765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83A22-0BB4-92B4-7B84-FACF80C7B7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88B0D9-4BF3-C308-D535-D2009CA43F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F737BA-B70B-06E8-31C6-0FF03EE6BF10}"/>
              </a:ext>
            </a:extLst>
          </p:cNvPr>
          <p:cNvSpPr>
            <a:spLocks noGrp="1"/>
          </p:cNvSpPr>
          <p:nvPr>
            <p:ph type="dt" sz="half" idx="10"/>
          </p:nvPr>
        </p:nvSpPr>
        <p:spPr/>
        <p:txBody>
          <a:bodyPr/>
          <a:lstStyle/>
          <a:p>
            <a:fld id="{E91CE24E-1A7D-1644-8A89-44A7DECCC6F0}" type="datetimeFigureOut">
              <a:rPr lang="en-US" smtClean="0"/>
              <a:t>10/9/2024</a:t>
            </a:fld>
            <a:endParaRPr lang="en-US"/>
          </a:p>
        </p:txBody>
      </p:sp>
      <p:sp>
        <p:nvSpPr>
          <p:cNvPr id="5" name="Footer Placeholder 4">
            <a:extLst>
              <a:ext uri="{FF2B5EF4-FFF2-40B4-BE49-F238E27FC236}">
                <a16:creationId xmlns:a16="http://schemas.microsoft.com/office/drawing/2014/main" id="{BA4B5334-4CFB-51B5-A234-4686E4A950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2B370B-043B-ABE5-0905-3F5163F4016C}"/>
              </a:ext>
            </a:extLst>
          </p:cNvPr>
          <p:cNvSpPr>
            <a:spLocks noGrp="1"/>
          </p:cNvSpPr>
          <p:nvPr>
            <p:ph type="sldNum" sz="quarter" idx="12"/>
          </p:nvPr>
        </p:nvSpPr>
        <p:spPr/>
        <p:txBody>
          <a:bodyPr/>
          <a:lstStyle/>
          <a:p>
            <a:fld id="{516BA87F-B22B-1245-ADF2-6711CA71205F}" type="slidenum">
              <a:rPr lang="en-US" smtClean="0"/>
              <a:t>‹#›</a:t>
            </a:fld>
            <a:endParaRPr lang="en-US"/>
          </a:p>
        </p:txBody>
      </p:sp>
    </p:spTree>
    <p:extLst>
      <p:ext uri="{BB962C8B-B14F-4D97-AF65-F5344CB8AC3E}">
        <p14:creationId xmlns:p14="http://schemas.microsoft.com/office/powerpoint/2010/main" val="2617829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130E57-C7C0-0DDB-BBC3-B3F14098C6C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90F84B8-685D-23A4-00D7-CF44970378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D1DE4-CB51-25B5-BA26-BCCD3911762A}"/>
              </a:ext>
            </a:extLst>
          </p:cNvPr>
          <p:cNvSpPr>
            <a:spLocks noGrp="1"/>
          </p:cNvSpPr>
          <p:nvPr>
            <p:ph type="dt" sz="half" idx="10"/>
          </p:nvPr>
        </p:nvSpPr>
        <p:spPr/>
        <p:txBody>
          <a:bodyPr/>
          <a:lstStyle/>
          <a:p>
            <a:fld id="{E91CE24E-1A7D-1644-8A89-44A7DECCC6F0}" type="datetimeFigureOut">
              <a:rPr lang="en-US" smtClean="0"/>
              <a:t>10/9/2024</a:t>
            </a:fld>
            <a:endParaRPr lang="en-US"/>
          </a:p>
        </p:txBody>
      </p:sp>
      <p:sp>
        <p:nvSpPr>
          <p:cNvPr id="5" name="Footer Placeholder 4">
            <a:extLst>
              <a:ext uri="{FF2B5EF4-FFF2-40B4-BE49-F238E27FC236}">
                <a16:creationId xmlns:a16="http://schemas.microsoft.com/office/drawing/2014/main" id="{E3DCC486-2A58-8606-0213-D7EF8443EB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CD64BE-72EF-A72D-138D-D9A40F2FCA3F}"/>
              </a:ext>
            </a:extLst>
          </p:cNvPr>
          <p:cNvSpPr>
            <a:spLocks noGrp="1"/>
          </p:cNvSpPr>
          <p:nvPr>
            <p:ph type="sldNum" sz="quarter" idx="12"/>
          </p:nvPr>
        </p:nvSpPr>
        <p:spPr/>
        <p:txBody>
          <a:bodyPr/>
          <a:lstStyle/>
          <a:p>
            <a:fld id="{516BA87F-B22B-1245-ADF2-6711CA71205F}" type="slidenum">
              <a:rPr lang="en-US" smtClean="0"/>
              <a:t>‹#›</a:t>
            </a:fld>
            <a:endParaRPr lang="en-US"/>
          </a:p>
        </p:txBody>
      </p:sp>
    </p:spTree>
    <p:extLst>
      <p:ext uri="{BB962C8B-B14F-4D97-AF65-F5344CB8AC3E}">
        <p14:creationId xmlns:p14="http://schemas.microsoft.com/office/powerpoint/2010/main" val="3477726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730789-5688-AC02-B132-AEB8EAF7A7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8AC736-3BE6-C345-4C41-92E5208CD4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D1D804-C060-7857-8BC5-7A04C22196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1CE24E-1A7D-1644-8A89-44A7DECCC6F0}" type="datetimeFigureOut">
              <a:rPr lang="en-US" smtClean="0"/>
              <a:t>10/9/2024</a:t>
            </a:fld>
            <a:endParaRPr lang="en-US"/>
          </a:p>
        </p:txBody>
      </p:sp>
      <p:sp>
        <p:nvSpPr>
          <p:cNvPr id="5" name="Footer Placeholder 4">
            <a:extLst>
              <a:ext uri="{FF2B5EF4-FFF2-40B4-BE49-F238E27FC236}">
                <a16:creationId xmlns:a16="http://schemas.microsoft.com/office/drawing/2014/main" id="{4BDBE2A6-7E31-61B0-FDB7-92A49140BA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6169C8B-9712-0D00-F048-0E15193792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6BA87F-B22B-1245-ADF2-6711CA71205F}" type="slidenum">
              <a:rPr lang="en-US" smtClean="0"/>
              <a:t>‹#›</a:t>
            </a:fld>
            <a:endParaRPr lang="en-US"/>
          </a:p>
        </p:txBody>
      </p:sp>
    </p:spTree>
    <p:extLst>
      <p:ext uri="{BB962C8B-B14F-4D97-AF65-F5344CB8AC3E}">
        <p14:creationId xmlns:p14="http://schemas.microsoft.com/office/powerpoint/2010/main" val="498428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descr="Dog on the couch">
            <a:extLst>
              <a:ext uri="{FF2B5EF4-FFF2-40B4-BE49-F238E27FC236}">
                <a16:creationId xmlns:a16="http://schemas.microsoft.com/office/drawing/2014/main" id="{20E946FB-B98D-50CB-89A3-ECBC4588E285}"/>
              </a:ext>
            </a:extLst>
          </p:cNvPr>
          <p:cNvPicPr>
            <a:picLocks noChangeAspect="1"/>
          </p:cNvPicPr>
          <p:nvPr/>
        </p:nvPicPr>
        <p:blipFill>
          <a:blip r:embed="rId2"/>
          <a:srcRect t="3791" r="-2" b="116"/>
          <a:stretch/>
        </p:blipFill>
        <p:spPr>
          <a:xfrm>
            <a:off x="20" y="-7619"/>
            <a:ext cx="12191979" cy="6887364"/>
          </a:xfrm>
          <a:prstGeom prst="rect">
            <a:avLst/>
          </a:prstGeom>
        </p:spPr>
      </p:pic>
      <p:sp>
        <p:nvSpPr>
          <p:cNvPr id="17" name="Rectangle 16">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20"/>
            <a:ext cx="5566593"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4067CD3-146F-6228-E362-39AA720C2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63442" y="855815"/>
            <a:ext cx="6887365" cy="5160474"/>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Rectangle 20">
            <a:extLst>
              <a:ext uri="{FF2B5EF4-FFF2-40B4-BE49-F238E27FC236}">
                <a16:creationId xmlns:a16="http://schemas.microsoft.com/office/drawing/2014/main" id="{271C7E5C-A0F8-E9FA-56DB-31A257FD4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7648"/>
            <a:ext cx="2079513"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3F70A3C-4474-2A39-470C-FD55A8837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706777" y="3068761"/>
            <a:ext cx="4504659"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5" name="Rectangle 24">
            <a:extLst>
              <a:ext uri="{FF2B5EF4-FFF2-40B4-BE49-F238E27FC236}">
                <a16:creationId xmlns:a16="http://schemas.microsoft.com/office/drawing/2014/main" id="{BAC3F7D4-9613-0E1F-901C-98FE831D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74557" y="-6485"/>
            <a:ext cx="342716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FD5167C-AF48-26F0-7A9F-3F7643374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64705" y="-1061856"/>
            <a:ext cx="3682024" cy="12211438"/>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7B30A01-FCA8-86A5-A840-C32A3BE2E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7639"/>
            <a:ext cx="4879823"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807A21-7B34-7C74-4C2A-74411C109B90}"/>
              </a:ext>
            </a:extLst>
          </p:cNvPr>
          <p:cNvSpPr>
            <a:spLocks noGrp="1"/>
          </p:cNvSpPr>
          <p:nvPr>
            <p:ph type="ctrTitle"/>
          </p:nvPr>
        </p:nvSpPr>
        <p:spPr>
          <a:xfrm>
            <a:off x="859028" y="2155188"/>
            <a:ext cx="4160233" cy="2839273"/>
          </a:xfrm>
        </p:spPr>
        <p:txBody>
          <a:bodyPr>
            <a:normAutofit/>
          </a:bodyPr>
          <a:lstStyle/>
          <a:p>
            <a:pPr algn="l"/>
            <a:r>
              <a:rPr lang="en-US" sz="4000">
                <a:solidFill>
                  <a:srgbClr val="FFFFFF"/>
                </a:solidFill>
              </a:rPr>
              <a:t>Pet Adoption Website</a:t>
            </a:r>
          </a:p>
        </p:txBody>
      </p:sp>
      <p:sp>
        <p:nvSpPr>
          <p:cNvPr id="3" name="Subtitle 2">
            <a:extLst>
              <a:ext uri="{FF2B5EF4-FFF2-40B4-BE49-F238E27FC236}">
                <a16:creationId xmlns:a16="http://schemas.microsoft.com/office/drawing/2014/main" id="{50E51C3A-2A07-7228-B68E-C6A26F78AC1B}"/>
              </a:ext>
            </a:extLst>
          </p:cNvPr>
          <p:cNvSpPr>
            <a:spLocks noGrp="1"/>
          </p:cNvSpPr>
          <p:nvPr>
            <p:ph type="subTitle" idx="1"/>
          </p:nvPr>
        </p:nvSpPr>
        <p:spPr>
          <a:xfrm>
            <a:off x="859028" y="5166367"/>
            <a:ext cx="4160233" cy="850998"/>
          </a:xfrm>
        </p:spPr>
        <p:txBody>
          <a:bodyPr vert="horz" lIns="91440" tIns="45720" rIns="91440" bIns="45720" rtlCol="0" anchor="t">
            <a:normAutofit/>
          </a:bodyPr>
          <a:lstStyle/>
          <a:p>
            <a:pPr algn="l"/>
            <a:r>
              <a:rPr lang="en-US" sz="2800">
                <a:solidFill>
                  <a:srgbClr val="FFFFFF"/>
                </a:solidFill>
                <a:latin typeface="Aptos Display"/>
              </a:rPr>
              <a:t>CSE2102-Fall24-Team25</a:t>
            </a:r>
          </a:p>
          <a:p>
            <a:pPr algn="l"/>
            <a:endParaRPr lang="en-US"/>
          </a:p>
          <a:p>
            <a:pPr algn="l"/>
            <a:endParaRPr lang="en-US" sz="2000">
              <a:solidFill>
                <a:srgbClr val="FFFFFF"/>
              </a:solidFill>
            </a:endParaRPr>
          </a:p>
        </p:txBody>
      </p:sp>
    </p:spTree>
    <p:extLst>
      <p:ext uri="{BB962C8B-B14F-4D97-AF65-F5344CB8AC3E}">
        <p14:creationId xmlns:p14="http://schemas.microsoft.com/office/powerpoint/2010/main" val="786580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852F93-A308-10B6-0859-6D921BBFDED2}"/>
              </a:ext>
            </a:extLst>
          </p:cNvPr>
          <p:cNvSpPr>
            <a:spLocks noGrp="1"/>
          </p:cNvSpPr>
          <p:nvPr>
            <p:ph type="title"/>
          </p:nvPr>
        </p:nvSpPr>
        <p:spPr>
          <a:xfrm>
            <a:off x="838200" y="503342"/>
            <a:ext cx="4391024" cy="1323439"/>
          </a:xfrm>
        </p:spPr>
        <p:txBody>
          <a:bodyPr anchor="t">
            <a:normAutofit/>
          </a:bodyPr>
          <a:lstStyle/>
          <a:p>
            <a:r>
              <a:rPr lang="en-US" sz="4000">
                <a:solidFill>
                  <a:schemeClr val="bg1"/>
                </a:solidFill>
              </a:rPr>
              <a:t>Samatha Guzman</a:t>
            </a:r>
          </a:p>
        </p:txBody>
      </p:sp>
      <p:sp>
        <p:nvSpPr>
          <p:cNvPr id="17" name="Content Placeholder 16">
            <a:extLst>
              <a:ext uri="{FF2B5EF4-FFF2-40B4-BE49-F238E27FC236}">
                <a16:creationId xmlns:a16="http://schemas.microsoft.com/office/drawing/2014/main" id="{BB030484-EB00-A9E0-14E2-39F3475F0DC4}"/>
              </a:ext>
            </a:extLst>
          </p:cNvPr>
          <p:cNvSpPr>
            <a:spLocks noGrp="1"/>
          </p:cNvSpPr>
          <p:nvPr>
            <p:ph idx="1"/>
          </p:nvPr>
        </p:nvSpPr>
        <p:spPr>
          <a:xfrm>
            <a:off x="351622" y="1163364"/>
            <a:ext cx="5354999" cy="4795384"/>
          </a:xfrm>
        </p:spPr>
        <p:txBody>
          <a:bodyPr vert="horz" lIns="91440" tIns="45720" rIns="91440" bIns="45720" rtlCol="0" anchor="t">
            <a:normAutofit/>
          </a:bodyPr>
          <a:lstStyle/>
          <a:p>
            <a:pPr marL="457200" lvl="1" indent="0">
              <a:buNone/>
            </a:pPr>
            <a:r>
              <a:rPr lang="en-US" sz="1400">
                <a:solidFill>
                  <a:srgbClr val="FFFFFF">
                    <a:alpha val="80000"/>
                  </a:srgbClr>
                </a:solidFill>
                <a:latin typeface="Times New Roman"/>
                <a:cs typeface="Times New Roman"/>
              </a:rPr>
              <a:t>Motivation: She had a family dog growing up but unfortunately it has passed away. Now with her two kids, one of her kids cannot see well and  She needs an good application that works and doesn't confuse her while getting a trained dog for her kid to walk around.</a:t>
            </a:r>
            <a:endParaRPr lang="en-US" sz="1400">
              <a:latin typeface="Times New Roman"/>
              <a:cs typeface="Times New Roman"/>
            </a:endParaRPr>
          </a:p>
          <a:p>
            <a:pPr marL="971550" lvl="1" indent="-285750">
              <a:buFont typeface="Courier New,monospace"/>
              <a:buChar char="o"/>
            </a:pPr>
            <a:r>
              <a:rPr lang="en-US" sz="1400">
                <a:solidFill>
                  <a:schemeClr val="bg1">
                    <a:alpha val="80000"/>
                  </a:schemeClr>
                </a:solidFill>
                <a:latin typeface="Times New Roman"/>
                <a:cs typeface="Times New Roman"/>
              </a:rPr>
              <a:t>Age = 28</a:t>
            </a:r>
          </a:p>
          <a:p>
            <a:pPr marL="971550" lvl="1" indent="-285750">
              <a:buFont typeface="Courier New,monospace"/>
              <a:buChar char="o"/>
            </a:pPr>
            <a:r>
              <a:rPr lang="en-US" sz="1400">
                <a:solidFill>
                  <a:schemeClr val="bg1">
                    <a:alpha val="80000"/>
                  </a:schemeClr>
                </a:solidFill>
                <a:latin typeface="Times New Roman"/>
                <a:cs typeface="Times New Roman"/>
              </a:rPr>
              <a:t>Job works in Tech at home!</a:t>
            </a:r>
          </a:p>
          <a:p>
            <a:pPr marL="971550" lvl="1" indent="-285750">
              <a:buFont typeface="Courier New,monospace"/>
              <a:buChar char="o"/>
            </a:pPr>
            <a:r>
              <a:rPr lang="en-US" sz="1400">
                <a:solidFill>
                  <a:schemeClr val="bg1">
                    <a:alpha val="80000"/>
                  </a:schemeClr>
                </a:solidFill>
                <a:latin typeface="Times New Roman"/>
                <a:cs typeface="Times New Roman"/>
              </a:rPr>
              <a:t>Married with 2 kids! They Live in CT, Fairfield.</a:t>
            </a:r>
          </a:p>
          <a:p>
            <a:pPr marL="971550" lvl="1" indent="-285750">
              <a:buFont typeface="Courier New,monospace"/>
              <a:buChar char="o"/>
            </a:pPr>
            <a:endParaRPr lang="en-US" sz="1400">
              <a:solidFill>
                <a:srgbClr val="000000"/>
              </a:solidFill>
              <a:latin typeface="Times New Roman"/>
              <a:cs typeface="Times New Roman"/>
            </a:endParaRPr>
          </a:p>
          <a:p>
            <a:pPr marL="457200" lvl="1" indent="0">
              <a:buNone/>
            </a:pPr>
            <a:r>
              <a:rPr lang="en-US" sz="1400">
                <a:solidFill>
                  <a:srgbClr val="FFFFFF">
                    <a:alpha val="80000"/>
                  </a:srgbClr>
                </a:solidFill>
                <a:latin typeface="Times New Roman"/>
                <a:cs typeface="Times New Roman"/>
              </a:rPr>
              <a:t>*Her child has an a problem visually and she needs a service dog*</a:t>
            </a:r>
            <a:endParaRPr lang="en-US" sz="1400">
              <a:solidFill>
                <a:schemeClr val="bg1"/>
              </a:solidFill>
              <a:latin typeface="Times New Roman"/>
              <a:cs typeface="Times New Roman"/>
            </a:endParaRPr>
          </a:p>
          <a:p>
            <a:pPr marL="457200" lvl="1" indent="0">
              <a:buNone/>
            </a:pPr>
            <a:endParaRPr lang="en-US" sz="1400">
              <a:solidFill>
                <a:srgbClr val="FFFFFF">
                  <a:alpha val="80000"/>
                </a:srgbClr>
              </a:solidFill>
              <a:latin typeface="Times New Roman"/>
              <a:cs typeface="Times New Roman"/>
            </a:endParaRPr>
          </a:p>
          <a:p>
            <a:pPr marL="457200" lvl="1" indent="0">
              <a:buNone/>
            </a:pPr>
            <a:r>
              <a:rPr lang="en-US" sz="1400">
                <a:solidFill>
                  <a:srgbClr val="FFFFFF">
                    <a:alpha val="80000"/>
                  </a:srgbClr>
                </a:solidFill>
                <a:latin typeface="Times New Roman"/>
                <a:cs typeface="Times New Roman"/>
              </a:rPr>
              <a:t>App – needs to be easy to use. Not overwhelming. Details on where the application is and who to contact. </a:t>
            </a:r>
          </a:p>
        </p:txBody>
      </p:sp>
      <p:grpSp>
        <p:nvGrpSpPr>
          <p:cNvPr id="22" name="Group 21">
            <a:extLst>
              <a:ext uri="{FF2B5EF4-FFF2-40B4-BE49-F238E27FC236}">
                <a16:creationId xmlns:a16="http://schemas.microsoft.com/office/drawing/2014/main" id="{D44E3F87-3D58-4B03-86B2-15A5C5B9C9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96000" y="841376"/>
            <a:ext cx="5260976" cy="4707593"/>
            <a:chOff x="6096000" y="841376"/>
            <a:chExt cx="5260976" cy="4707593"/>
          </a:xfrm>
          <a:effectLst>
            <a:outerShdw blurRad="381000" dist="152400" dir="5400000" algn="ctr" rotWithShape="0">
              <a:srgbClr val="000000">
                <a:alpha val="10000"/>
              </a:srgbClr>
            </a:outerShdw>
          </a:effectLst>
        </p:grpSpPr>
        <p:grpSp>
          <p:nvGrpSpPr>
            <p:cNvPr id="23" name="Group 22">
              <a:extLst>
                <a:ext uri="{FF2B5EF4-FFF2-40B4-BE49-F238E27FC236}">
                  <a16:creationId xmlns:a16="http://schemas.microsoft.com/office/drawing/2014/main" id="{B4D09509-F6FC-47A6-B196-CCCFD8E8305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1" y="841376"/>
              <a:ext cx="5260975" cy="4707593"/>
              <a:chOff x="6096001" y="841376"/>
              <a:chExt cx="5260975" cy="4707593"/>
            </a:xfrm>
          </p:grpSpPr>
          <p:sp>
            <p:nvSpPr>
              <p:cNvPr id="27" name="Freeform: Shape 26">
                <a:extLst>
                  <a:ext uri="{FF2B5EF4-FFF2-40B4-BE49-F238E27FC236}">
                    <a16:creationId xmlns:a16="http://schemas.microsoft.com/office/drawing/2014/main" id="{BA5B9D66-192D-4F12-964D-2B23A1D27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C9C14E68-C469-4A71-AF08-169DB545F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4" name="Group 23">
              <a:extLst>
                <a:ext uri="{FF2B5EF4-FFF2-40B4-BE49-F238E27FC236}">
                  <a16:creationId xmlns:a16="http://schemas.microsoft.com/office/drawing/2014/main" id="{B2C18990-7F62-45E8-B68F-47E95E4812F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0" y="4138312"/>
              <a:ext cx="5260975" cy="1410656"/>
              <a:chOff x="6096000" y="4138312"/>
              <a:chExt cx="5260975" cy="1410656"/>
            </a:xfrm>
          </p:grpSpPr>
          <p:sp>
            <p:nvSpPr>
              <p:cNvPr id="25" name="Freeform: Shape 24">
                <a:extLst>
                  <a:ext uri="{FF2B5EF4-FFF2-40B4-BE49-F238E27FC236}">
                    <a16:creationId xmlns:a16="http://schemas.microsoft.com/office/drawing/2014/main" id="{AC206BB2-3759-4DF0-9932-7445B6367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381FA6FA-3CB6-4F57-8871-82DDE5BE8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pic>
        <p:nvPicPr>
          <p:cNvPr id="5" name="Content Placeholder 4" descr="A person in a suit with her arms crossed&#10;&#10;Description automatically generated">
            <a:extLst>
              <a:ext uri="{FF2B5EF4-FFF2-40B4-BE49-F238E27FC236}">
                <a16:creationId xmlns:a16="http://schemas.microsoft.com/office/drawing/2014/main" id="{17A35D6C-0473-5C52-1218-946D6EC8139A}"/>
              </a:ext>
            </a:extLst>
          </p:cNvPr>
          <p:cNvPicPr>
            <a:picLocks noChangeAspect="1"/>
          </p:cNvPicPr>
          <p:nvPr/>
        </p:nvPicPr>
        <p:blipFill>
          <a:blip r:embed="rId3"/>
          <a:stretch>
            <a:fillRect/>
          </a:stretch>
        </p:blipFill>
        <p:spPr>
          <a:xfrm>
            <a:off x="6541932" y="1277423"/>
            <a:ext cx="4369112" cy="2916382"/>
          </a:xfrm>
          <a:prstGeom prst="rect">
            <a:avLst/>
          </a:prstGeom>
        </p:spPr>
      </p:pic>
      <p:sp>
        <p:nvSpPr>
          <p:cNvPr id="7" name="Content Placeholder 16">
            <a:extLst>
              <a:ext uri="{FF2B5EF4-FFF2-40B4-BE49-F238E27FC236}">
                <a16:creationId xmlns:a16="http://schemas.microsoft.com/office/drawing/2014/main" id="{6471C59F-8838-A015-3660-1BDEB81E4744}"/>
              </a:ext>
            </a:extLst>
          </p:cNvPr>
          <p:cNvSpPr txBox="1">
            <a:spLocks/>
          </p:cNvSpPr>
          <p:nvPr/>
        </p:nvSpPr>
        <p:spPr>
          <a:xfrm>
            <a:off x="-19280" y="4612118"/>
            <a:ext cx="6098638" cy="224314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1400">
                <a:solidFill>
                  <a:srgbClr val="FFFFFF">
                    <a:alpha val="80000"/>
                  </a:srgbClr>
                </a:solidFill>
                <a:latin typeface="Times New Roman"/>
                <a:cs typeface="Times New Roman"/>
              </a:rPr>
              <a:t>Bio: </a:t>
            </a:r>
            <a:r>
              <a:rPr lang="en-US" sz="1400">
                <a:solidFill>
                  <a:srgbClr val="FFFFFF">
                    <a:alpha val="80000"/>
                  </a:srgbClr>
                </a:solidFill>
                <a:latin typeface="Times New Roman"/>
                <a:ea typeface="+mn-lt"/>
                <a:cs typeface="+mn-lt"/>
              </a:rPr>
              <a:t>Samatha loves animals and works hard, especially in her job. Her family comes first and she's always there for them. In addition to learning, she's passionate about animals and how to take care of them. As well as her hobbies include cooking, reading, and swimming. She loves tech and is always excited about new things, but she's also very strict about whether it's a good idea or not. </a:t>
            </a:r>
          </a:p>
        </p:txBody>
      </p:sp>
    </p:spTree>
    <p:extLst>
      <p:ext uri="{BB962C8B-B14F-4D97-AF65-F5344CB8AC3E}">
        <p14:creationId xmlns:p14="http://schemas.microsoft.com/office/powerpoint/2010/main" val="1068904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9" name="Rectangle 368">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18995A-EA57-0B55-4081-2A45AA4A35F8}"/>
              </a:ext>
            </a:extLst>
          </p:cNvPr>
          <p:cNvSpPr>
            <a:spLocks noGrp="1"/>
          </p:cNvSpPr>
          <p:nvPr>
            <p:ph type="title"/>
          </p:nvPr>
        </p:nvSpPr>
        <p:spPr>
          <a:xfrm>
            <a:off x="6234865" y="568517"/>
            <a:ext cx="5248221" cy="1067209"/>
          </a:xfrm>
        </p:spPr>
        <p:txBody>
          <a:bodyPr>
            <a:normAutofit/>
          </a:bodyPr>
          <a:lstStyle/>
          <a:p>
            <a:r>
              <a:rPr lang="en-US">
                <a:solidFill>
                  <a:schemeClr val="bg1"/>
                </a:solidFill>
                <a:ea typeface="+mj-lt"/>
                <a:cs typeface="+mj-lt"/>
              </a:rPr>
              <a:t>Daniel Miller</a:t>
            </a:r>
            <a:endParaRPr lang="en-US">
              <a:solidFill>
                <a:schemeClr val="bg1"/>
              </a:solidFill>
            </a:endParaRPr>
          </a:p>
        </p:txBody>
      </p:sp>
      <p:pic>
        <p:nvPicPr>
          <p:cNvPr id="5" name="Picture 4" descr="A person standing outside with his hands in his pockets&#10;&#10;Description automatically generated">
            <a:extLst>
              <a:ext uri="{FF2B5EF4-FFF2-40B4-BE49-F238E27FC236}">
                <a16:creationId xmlns:a16="http://schemas.microsoft.com/office/drawing/2014/main" id="{55E3A2E3-25F4-1510-6B86-4A209FC34FBD}"/>
              </a:ext>
            </a:extLst>
          </p:cNvPr>
          <p:cNvPicPr>
            <a:picLocks noChangeAspect="1"/>
          </p:cNvPicPr>
          <p:nvPr/>
        </p:nvPicPr>
        <p:blipFill>
          <a:blip r:embed="rId2"/>
          <a:srcRect r="-3" b="-3"/>
          <a:stretch/>
        </p:blipFill>
        <p:spPr>
          <a:xfrm>
            <a:off x="1862285" y="380662"/>
            <a:ext cx="2492575" cy="2486669"/>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ln w="28575">
            <a:noFill/>
          </a:ln>
        </p:spPr>
      </p:pic>
      <p:grpSp>
        <p:nvGrpSpPr>
          <p:cNvPr id="371" name="Group 370">
            <a:extLst>
              <a:ext uri="{FF2B5EF4-FFF2-40B4-BE49-F238E27FC236}">
                <a16:creationId xmlns:a16="http://schemas.microsoft.com/office/drawing/2014/main" id="{B894EFA8-F425-4D19-A94B-445388B31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372" name="Freeform: Shape 371">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373" name="Freeform: Shape 372">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sp>
        <p:nvSpPr>
          <p:cNvPr id="3" name="Content Placeholder 2">
            <a:extLst>
              <a:ext uri="{FF2B5EF4-FFF2-40B4-BE49-F238E27FC236}">
                <a16:creationId xmlns:a16="http://schemas.microsoft.com/office/drawing/2014/main" id="{34A3844B-CD37-75B4-7B52-E968908C60C4}"/>
              </a:ext>
            </a:extLst>
          </p:cNvPr>
          <p:cNvSpPr>
            <a:spLocks noGrp="1"/>
          </p:cNvSpPr>
          <p:nvPr>
            <p:ph idx="1"/>
          </p:nvPr>
        </p:nvSpPr>
        <p:spPr>
          <a:xfrm>
            <a:off x="6234868" y="1820369"/>
            <a:ext cx="5217173" cy="4351338"/>
          </a:xfrm>
        </p:spPr>
        <p:txBody>
          <a:bodyPr vert="horz" lIns="91440" tIns="45720" rIns="91440" bIns="45720" rtlCol="0" anchor="t">
            <a:normAutofit/>
          </a:bodyPr>
          <a:lstStyle/>
          <a:p>
            <a:endParaRPr lang="en-US" sz="700">
              <a:solidFill>
                <a:schemeClr val="bg1"/>
              </a:solidFill>
            </a:endParaRPr>
          </a:p>
          <a:p>
            <a:r>
              <a:rPr lang="en-US" sz="2000">
                <a:solidFill>
                  <a:schemeClr val="bg1"/>
                </a:solidFill>
              </a:rPr>
              <a:t>Motivation</a:t>
            </a:r>
          </a:p>
          <a:p>
            <a:pPr lvl="1">
              <a:buFont typeface="Courier New" panose="020B0604020202020204" pitchFamily="34" charset="0"/>
              <a:buChar char="o"/>
            </a:pPr>
            <a:r>
              <a:rPr lang="en-US" sz="1500">
                <a:solidFill>
                  <a:schemeClr val="bg1"/>
                </a:solidFill>
              </a:rPr>
              <a:t>Daniel is a driven photographer who loves to takes photos of landscapes, birds, and people. He is a very simple man who loves animals. </a:t>
            </a:r>
          </a:p>
          <a:p>
            <a:pPr marL="457200" lvl="1" indent="0">
              <a:buNone/>
            </a:pPr>
            <a:endParaRPr lang="en-US" sz="1500">
              <a:solidFill>
                <a:schemeClr val="bg1"/>
              </a:solidFill>
            </a:endParaRPr>
          </a:p>
          <a:p>
            <a:r>
              <a:rPr lang="en-US" sz="1900">
                <a:solidFill>
                  <a:schemeClr val="bg1"/>
                </a:solidFill>
              </a:rPr>
              <a:t>Frustrations</a:t>
            </a:r>
          </a:p>
          <a:p>
            <a:pPr lvl="1">
              <a:buFont typeface="Courier New" panose="020B0604020202020204" pitchFamily="34" charset="0"/>
              <a:buChar char="o"/>
            </a:pPr>
            <a:r>
              <a:rPr lang="en-US" sz="1500">
                <a:solidFill>
                  <a:schemeClr val="bg1"/>
                </a:solidFill>
              </a:rPr>
              <a:t>He's simple so he gets overwhelmed if there are too many options for pets</a:t>
            </a:r>
          </a:p>
          <a:p>
            <a:pPr lvl="1">
              <a:buFont typeface="Courier New" panose="020B0604020202020204" pitchFamily="34" charset="0"/>
              <a:buChar char="o"/>
            </a:pPr>
            <a:r>
              <a:rPr lang="en-US" sz="1500">
                <a:solidFill>
                  <a:schemeClr val="bg1"/>
                </a:solidFill>
              </a:rPr>
              <a:t>Wants a dog that’s perfect for him</a:t>
            </a:r>
          </a:p>
          <a:p>
            <a:endParaRPr lang="en-US">
              <a:solidFill>
                <a:srgbClr val="000000"/>
              </a:solidFill>
            </a:endParaRPr>
          </a:p>
          <a:p>
            <a:endParaRPr lang="en-US">
              <a:solidFill>
                <a:srgbClr val="000000"/>
              </a:solidFill>
            </a:endParaRPr>
          </a:p>
        </p:txBody>
      </p:sp>
      <p:grpSp>
        <p:nvGrpSpPr>
          <p:cNvPr id="375"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376" name="Freeform: Shape 375">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77" name="Freeform: Shape 376">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78" name="Freeform: Shape 377">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8" name="TextBox 7">
            <a:extLst>
              <a:ext uri="{FF2B5EF4-FFF2-40B4-BE49-F238E27FC236}">
                <a16:creationId xmlns:a16="http://schemas.microsoft.com/office/drawing/2014/main" id="{42536C16-1A6D-96E8-5CD1-840D8A7750C7}"/>
              </a:ext>
            </a:extLst>
          </p:cNvPr>
          <p:cNvSpPr txBox="1"/>
          <p:nvPr/>
        </p:nvSpPr>
        <p:spPr>
          <a:xfrm>
            <a:off x="871700" y="3102664"/>
            <a:ext cx="3545903" cy="22672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en-US" sz="2000">
                <a:solidFill>
                  <a:schemeClr val="bg1"/>
                </a:solidFill>
                <a:latin typeface="Aptos"/>
                <a:ea typeface="Arial"/>
                <a:cs typeface="Arial"/>
              </a:rPr>
              <a:t>Bio</a:t>
            </a:r>
          </a:p>
          <a:p>
            <a:pPr>
              <a:lnSpc>
                <a:spcPct val="90000"/>
              </a:lnSpc>
              <a:spcBef>
                <a:spcPts val="1000"/>
              </a:spcBef>
              <a:buFont typeface="Arial"/>
            </a:pPr>
            <a:r>
              <a:rPr lang="en-US" sz="1500">
                <a:solidFill>
                  <a:schemeClr val="bg1"/>
                </a:solidFill>
                <a:latin typeface="Aptos"/>
                <a:ea typeface="Arial"/>
                <a:cs typeface="Arial"/>
              </a:rPr>
              <a:t>Daniel is a 25 year old man who is </a:t>
            </a:r>
            <a:r>
              <a:rPr lang="en-US" sz="1500" baseline="0">
                <a:solidFill>
                  <a:schemeClr val="bg1"/>
                </a:solidFill>
                <a:latin typeface="Aptos"/>
                <a:ea typeface="Arial"/>
                <a:cs typeface="Arial"/>
              </a:rPr>
              <a:t>a photographer</a:t>
            </a:r>
            <a:r>
              <a:rPr lang="en-US" sz="1500">
                <a:solidFill>
                  <a:schemeClr val="bg1"/>
                </a:solidFill>
                <a:latin typeface="Aptos"/>
                <a:ea typeface="Arial"/>
                <a:cs typeface="Arial"/>
              </a:rPr>
              <a:t> for a company and travels occasionally for his work. He often spends his day to work out </a:t>
            </a:r>
            <a:r>
              <a:rPr lang="en-US" sz="1500" baseline="0">
                <a:solidFill>
                  <a:schemeClr val="bg1"/>
                </a:solidFill>
                <a:latin typeface="Aptos"/>
                <a:ea typeface="Arial"/>
                <a:cs typeface="Arial"/>
              </a:rPr>
              <a:t>and </a:t>
            </a:r>
            <a:r>
              <a:rPr lang="en-US" sz="1500">
                <a:solidFill>
                  <a:schemeClr val="bg1"/>
                </a:solidFill>
                <a:latin typeface="Aptos"/>
                <a:ea typeface="Arial"/>
                <a:cs typeface="Arial"/>
              </a:rPr>
              <a:t>socialize with his friends. He loves </a:t>
            </a:r>
            <a:r>
              <a:rPr lang="en-US" sz="1500" baseline="0">
                <a:solidFill>
                  <a:schemeClr val="bg1"/>
                </a:solidFill>
                <a:latin typeface="Aptos"/>
                <a:ea typeface="Arial"/>
                <a:cs typeface="Arial"/>
              </a:rPr>
              <a:t>to </a:t>
            </a:r>
            <a:r>
              <a:rPr lang="en-US" sz="1500">
                <a:solidFill>
                  <a:schemeClr val="bg1"/>
                </a:solidFill>
                <a:latin typeface="Aptos"/>
                <a:ea typeface="Arial"/>
                <a:cs typeface="Arial"/>
              </a:rPr>
              <a:t>take photos of landscapes, birds</a:t>
            </a:r>
            <a:r>
              <a:rPr lang="en-US" sz="1500" baseline="0">
                <a:solidFill>
                  <a:schemeClr val="bg1"/>
                </a:solidFill>
                <a:latin typeface="Aptos"/>
                <a:ea typeface="Arial"/>
                <a:cs typeface="Arial"/>
              </a:rPr>
              <a:t>, and </a:t>
            </a:r>
            <a:r>
              <a:rPr lang="en-US" sz="1500">
                <a:solidFill>
                  <a:schemeClr val="bg1"/>
                </a:solidFill>
                <a:latin typeface="Aptos"/>
                <a:ea typeface="Arial"/>
                <a:cs typeface="Arial"/>
              </a:rPr>
              <a:t>people. He would </a:t>
            </a:r>
            <a:r>
              <a:rPr lang="en-US" sz="1500" baseline="0">
                <a:solidFill>
                  <a:schemeClr val="bg1"/>
                </a:solidFill>
                <a:latin typeface="Aptos"/>
                <a:ea typeface="Arial"/>
                <a:cs typeface="Arial"/>
              </a:rPr>
              <a:t>like to have </a:t>
            </a:r>
            <a:r>
              <a:rPr lang="en-US" sz="1500">
                <a:solidFill>
                  <a:schemeClr val="bg1"/>
                </a:solidFill>
                <a:latin typeface="Aptos"/>
                <a:ea typeface="Arial"/>
                <a:cs typeface="Arial"/>
              </a:rPr>
              <a:t>a pet </a:t>
            </a:r>
            <a:r>
              <a:rPr lang="en-US" sz="1500" baseline="0">
                <a:solidFill>
                  <a:schemeClr val="bg1"/>
                </a:solidFill>
                <a:latin typeface="Aptos"/>
                <a:ea typeface="Arial"/>
                <a:cs typeface="Arial"/>
              </a:rPr>
              <a:t>dog </a:t>
            </a:r>
            <a:r>
              <a:rPr lang="en-US" sz="1500">
                <a:solidFill>
                  <a:schemeClr val="bg1"/>
                </a:solidFill>
                <a:latin typeface="Aptos"/>
                <a:ea typeface="Arial"/>
                <a:cs typeface="Arial"/>
              </a:rPr>
              <a:t>who is calm and playful.</a:t>
            </a:r>
            <a:endParaRPr lang="en-US" sz="1500">
              <a:solidFill>
                <a:schemeClr val="bg1"/>
              </a:solidFill>
            </a:endParaRPr>
          </a:p>
          <a:p>
            <a:pPr marL="228600" lvl="1" indent="-228600" rtl="0">
              <a:buFont typeface="Courier New,monospace"/>
              <a:buChar char="o"/>
            </a:pPr>
            <a:r>
              <a:rPr lang="en-US" sz="700">
                <a:latin typeface="Aptos"/>
                <a:ea typeface="Arial"/>
                <a:cs typeface="Arial"/>
              </a:rPr>
              <a:t>​</a:t>
            </a:r>
            <a:endParaRPr lang="en-US"/>
          </a:p>
        </p:txBody>
      </p:sp>
      <p:sp>
        <p:nvSpPr>
          <p:cNvPr id="23" name="TextBox 22">
            <a:extLst>
              <a:ext uri="{FF2B5EF4-FFF2-40B4-BE49-F238E27FC236}">
                <a16:creationId xmlns:a16="http://schemas.microsoft.com/office/drawing/2014/main" id="{115E77CD-7884-CCF0-E226-DAC857EE0C8C}"/>
              </a:ext>
            </a:extLst>
          </p:cNvPr>
          <p:cNvSpPr txBox="1"/>
          <p:nvPr/>
        </p:nvSpPr>
        <p:spPr>
          <a:xfrm>
            <a:off x="907144" y="5323686"/>
            <a:ext cx="4012553" cy="9734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en-US" sz="1500">
                <a:solidFill>
                  <a:schemeClr val="bg1"/>
                </a:solidFill>
                <a:cs typeface="Arial"/>
              </a:rPr>
              <a:t>Age : 25</a:t>
            </a:r>
          </a:p>
          <a:p>
            <a:pPr>
              <a:lnSpc>
                <a:spcPct val="90000"/>
              </a:lnSpc>
              <a:spcBef>
                <a:spcPts val="1000"/>
              </a:spcBef>
            </a:pPr>
            <a:r>
              <a:rPr lang="en-US" sz="1500">
                <a:solidFill>
                  <a:schemeClr val="bg1"/>
                </a:solidFill>
                <a:latin typeface="Aptos"/>
                <a:ea typeface="Arial"/>
                <a:cs typeface="Arial"/>
              </a:rPr>
              <a:t>Family: Married</a:t>
            </a:r>
          </a:p>
          <a:p>
            <a:pPr>
              <a:lnSpc>
                <a:spcPct val="90000"/>
              </a:lnSpc>
              <a:spcBef>
                <a:spcPts val="1000"/>
              </a:spcBef>
            </a:pPr>
            <a:r>
              <a:rPr lang="en-US" sz="1500">
                <a:solidFill>
                  <a:schemeClr val="bg1"/>
                </a:solidFill>
                <a:latin typeface="Aptos"/>
                <a:ea typeface="Arial"/>
                <a:cs typeface="Arial"/>
              </a:rPr>
              <a:t>Location: Boston, Massachusetts</a:t>
            </a:r>
          </a:p>
        </p:txBody>
      </p:sp>
    </p:spTree>
    <p:extLst>
      <p:ext uri="{BB962C8B-B14F-4D97-AF65-F5344CB8AC3E}">
        <p14:creationId xmlns:p14="http://schemas.microsoft.com/office/powerpoint/2010/main" val="1574340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244368-FD52-755D-ED96-FBBBE76BC150}"/>
              </a:ext>
            </a:extLst>
          </p:cNvPr>
          <p:cNvSpPr>
            <a:spLocks noGrp="1"/>
          </p:cNvSpPr>
          <p:nvPr>
            <p:ph type="title"/>
          </p:nvPr>
        </p:nvSpPr>
        <p:spPr>
          <a:xfrm>
            <a:off x="1171074" y="1396686"/>
            <a:ext cx="3240506" cy="4064628"/>
          </a:xfrm>
        </p:spPr>
        <p:txBody>
          <a:bodyPr>
            <a:normAutofit/>
          </a:bodyPr>
          <a:lstStyle/>
          <a:p>
            <a:endParaRPr lang="en-US">
              <a:solidFill>
                <a:srgbClr val="FFFFFF"/>
              </a:solidFill>
            </a:endParaRP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BB5FCA67-B724-97AD-66C4-C1DD39A74287}"/>
              </a:ext>
            </a:extLst>
          </p:cNvPr>
          <p:cNvSpPr txBox="1"/>
          <p:nvPr/>
        </p:nvSpPr>
        <p:spPr>
          <a:xfrm>
            <a:off x="5349581" y="2095073"/>
            <a:ext cx="5225142"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Bio:</a:t>
            </a:r>
            <a:br>
              <a:rPr lang="en-US">
                <a:solidFill>
                  <a:schemeClr val="bg1"/>
                </a:solidFill>
              </a:rPr>
            </a:br>
            <a:r>
              <a:rPr lang="en-US">
                <a:solidFill>
                  <a:schemeClr val="bg1"/>
                </a:solidFill>
              </a:rPr>
              <a:t>Jacob Keys is a retired man who lives his days at his house.  He often sits at home watching TV going on the patio and looking outside. He not that use to technology and can't seem to buy a dog without being confused or thinking it’s a scam. He would love a dog to have that low maintenance but would force him to get active.</a:t>
            </a:r>
          </a:p>
        </p:txBody>
      </p:sp>
      <p:sp>
        <p:nvSpPr>
          <p:cNvPr id="5" name="TextBox 4">
            <a:extLst>
              <a:ext uri="{FF2B5EF4-FFF2-40B4-BE49-F238E27FC236}">
                <a16:creationId xmlns:a16="http://schemas.microsoft.com/office/drawing/2014/main" id="{01D2E037-E7A9-87E2-5ED6-A9B4113B8B0D}"/>
              </a:ext>
            </a:extLst>
          </p:cNvPr>
          <p:cNvSpPr txBox="1"/>
          <p:nvPr/>
        </p:nvSpPr>
        <p:spPr>
          <a:xfrm>
            <a:off x="2747972" y="6134788"/>
            <a:ext cx="92891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Age: 65</a:t>
            </a:r>
          </a:p>
        </p:txBody>
      </p:sp>
      <p:sp>
        <p:nvSpPr>
          <p:cNvPr id="6" name="TextBox 5">
            <a:extLst>
              <a:ext uri="{FF2B5EF4-FFF2-40B4-BE49-F238E27FC236}">
                <a16:creationId xmlns:a16="http://schemas.microsoft.com/office/drawing/2014/main" id="{879F427F-D060-8E8C-5B6A-A84EA0654EED}"/>
              </a:ext>
            </a:extLst>
          </p:cNvPr>
          <p:cNvSpPr txBox="1"/>
          <p:nvPr/>
        </p:nvSpPr>
        <p:spPr>
          <a:xfrm>
            <a:off x="4859522" y="4848790"/>
            <a:ext cx="387099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Family: Married and kids already moved out</a:t>
            </a:r>
          </a:p>
        </p:txBody>
      </p:sp>
      <p:sp>
        <p:nvSpPr>
          <p:cNvPr id="7" name="TextBox 6">
            <a:extLst>
              <a:ext uri="{FF2B5EF4-FFF2-40B4-BE49-F238E27FC236}">
                <a16:creationId xmlns:a16="http://schemas.microsoft.com/office/drawing/2014/main" id="{34CF1EC6-7B99-E34A-F233-260FF7466A20}"/>
              </a:ext>
            </a:extLst>
          </p:cNvPr>
          <p:cNvSpPr txBox="1"/>
          <p:nvPr/>
        </p:nvSpPr>
        <p:spPr>
          <a:xfrm>
            <a:off x="2791327" y="5830312"/>
            <a:ext cx="30988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Location: Syracuse New York</a:t>
            </a:r>
          </a:p>
        </p:txBody>
      </p:sp>
      <p:sp>
        <p:nvSpPr>
          <p:cNvPr id="9" name="TextBox 8">
            <a:extLst>
              <a:ext uri="{FF2B5EF4-FFF2-40B4-BE49-F238E27FC236}">
                <a16:creationId xmlns:a16="http://schemas.microsoft.com/office/drawing/2014/main" id="{94440F6F-1102-50FA-15FA-B1256EC635D0}"/>
              </a:ext>
            </a:extLst>
          </p:cNvPr>
          <p:cNvSpPr txBox="1"/>
          <p:nvPr/>
        </p:nvSpPr>
        <p:spPr>
          <a:xfrm>
            <a:off x="4749988" y="332228"/>
            <a:ext cx="3207657"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Motivation: Wants a dog to motivate him to get around and to fill up his day. He needs a simple and easy to use app that doesn't confuse him.</a:t>
            </a:r>
          </a:p>
        </p:txBody>
      </p:sp>
      <p:sp>
        <p:nvSpPr>
          <p:cNvPr id="11" name="TextBox 10">
            <a:extLst>
              <a:ext uri="{FF2B5EF4-FFF2-40B4-BE49-F238E27FC236}">
                <a16:creationId xmlns:a16="http://schemas.microsoft.com/office/drawing/2014/main" id="{D6982133-7012-048F-CD82-9C5170DFCFE2}"/>
              </a:ext>
            </a:extLst>
          </p:cNvPr>
          <p:cNvSpPr txBox="1"/>
          <p:nvPr/>
        </p:nvSpPr>
        <p:spPr>
          <a:xfrm>
            <a:off x="8601213" y="4538163"/>
            <a:ext cx="34036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Goals:</a:t>
            </a:r>
            <a:br>
              <a:rPr lang="en-US">
                <a:solidFill>
                  <a:schemeClr val="bg1"/>
                </a:solidFill>
              </a:rPr>
            </a:br>
            <a:r>
              <a:rPr lang="en-US">
                <a:solidFill>
                  <a:schemeClr val="bg1"/>
                </a:solidFill>
              </a:rPr>
              <a:t>-Accessibility Options for the app</a:t>
            </a:r>
          </a:p>
          <a:p>
            <a:r>
              <a:rPr lang="en-US">
                <a:solidFill>
                  <a:schemeClr val="bg1"/>
                </a:solidFill>
              </a:rPr>
              <a:t>-Easy Onboarding so he doesn't get confused</a:t>
            </a:r>
          </a:p>
          <a:p>
            <a:r>
              <a:rPr lang="en-US">
                <a:solidFill>
                  <a:schemeClr val="bg1"/>
                </a:solidFill>
              </a:rPr>
              <a:t>-Filters to choose a low maintenance pet</a:t>
            </a:r>
          </a:p>
        </p:txBody>
      </p:sp>
      <p:pic>
        <p:nvPicPr>
          <p:cNvPr id="1026" name="Picture 2" descr="Close up portrait of a smiling attractive senior man looking directly at the camera with copyspace">
            <a:extLst>
              <a:ext uri="{FF2B5EF4-FFF2-40B4-BE49-F238E27FC236}">
                <a16:creationId xmlns:a16="http://schemas.microsoft.com/office/drawing/2014/main" id="{2A5627E2-6580-2B20-380B-92B2846FDC5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170" t="9658" r="10379" b="22978"/>
          <a:stretch/>
        </p:blipFill>
        <p:spPr bwMode="auto">
          <a:xfrm>
            <a:off x="484682" y="1117386"/>
            <a:ext cx="4619938" cy="4619937"/>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4065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le 1">
            <a:extLst>
              <a:ext uri="{FF2B5EF4-FFF2-40B4-BE49-F238E27FC236}">
                <a16:creationId xmlns:a16="http://schemas.microsoft.com/office/drawing/2014/main" id="{CB52FCE0-B79B-3C58-B096-E19EFCFBFF82}"/>
              </a:ext>
            </a:extLst>
          </p:cNvPr>
          <p:cNvSpPr>
            <a:spLocks noGrp="1"/>
          </p:cNvSpPr>
          <p:nvPr>
            <p:ph type="title"/>
          </p:nvPr>
        </p:nvSpPr>
        <p:spPr>
          <a:xfrm>
            <a:off x="332795" y="0"/>
            <a:ext cx="4433843" cy="1325563"/>
          </a:xfrm>
        </p:spPr>
        <p:txBody>
          <a:bodyPr/>
          <a:lstStyle/>
          <a:p>
            <a:r>
              <a:rPr lang="en-US"/>
              <a:t>Unique Jones</a:t>
            </a:r>
          </a:p>
        </p:txBody>
      </p:sp>
      <p:sp>
        <p:nvSpPr>
          <p:cNvPr id="5" name="TextBox 4">
            <a:extLst>
              <a:ext uri="{FF2B5EF4-FFF2-40B4-BE49-F238E27FC236}">
                <a16:creationId xmlns:a16="http://schemas.microsoft.com/office/drawing/2014/main" id="{C2F3DAEF-AEED-FBC4-D0FF-45BC329A27CE}"/>
              </a:ext>
            </a:extLst>
          </p:cNvPr>
          <p:cNvSpPr txBox="1"/>
          <p:nvPr/>
        </p:nvSpPr>
        <p:spPr>
          <a:xfrm>
            <a:off x="7475055" y="3728728"/>
            <a:ext cx="3301339" cy="2400657"/>
          </a:xfrm>
          <a:prstGeom prst="rect">
            <a:avLst/>
          </a:prstGeom>
          <a:noFill/>
        </p:spPr>
        <p:txBody>
          <a:bodyPr wrap="square" rtlCol="0">
            <a:spAutoFit/>
          </a:bodyPr>
          <a:lstStyle/>
          <a:p>
            <a:r>
              <a:rPr lang="en-US" sz="1500" b="1"/>
              <a:t>Bio</a:t>
            </a:r>
          </a:p>
          <a:p>
            <a:r>
              <a:rPr lang="en-US" sz="1500"/>
              <a:t>Unique is a pre-med college student who lives far from home. She lives at an off-campus apartment with two friends one who is allergic to dogs. She isn’t home a lot during the day and stays up late to study. She also loves to work out on the weekend and is active. </a:t>
            </a:r>
          </a:p>
          <a:p>
            <a:endParaRPr lang="en-US" sz="1500"/>
          </a:p>
        </p:txBody>
      </p:sp>
      <p:sp>
        <p:nvSpPr>
          <p:cNvPr id="7" name="TextBox 6">
            <a:extLst>
              <a:ext uri="{FF2B5EF4-FFF2-40B4-BE49-F238E27FC236}">
                <a16:creationId xmlns:a16="http://schemas.microsoft.com/office/drawing/2014/main" id="{B82D2F9A-290A-E97B-635A-C98BA5E593FD}"/>
              </a:ext>
            </a:extLst>
          </p:cNvPr>
          <p:cNvSpPr txBox="1"/>
          <p:nvPr/>
        </p:nvSpPr>
        <p:spPr>
          <a:xfrm flipH="1">
            <a:off x="4668616" y="1592516"/>
            <a:ext cx="2484236" cy="1246495"/>
          </a:xfrm>
          <a:prstGeom prst="rect">
            <a:avLst/>
          </a:prstGeom>
          <a:noFill/>
        </p:spPr>
        <p:txBody>
          <a:bodyPr wrap="square" rtlCol="0">
            <a:spAutoFit/>
          </a:bodyPr>
          <a:lstStyle/>
          <a:p>
            <a:r>
              <a:rPr lang="en-US" sz="1500"/>
              <a:t>Age 20 – 26</a:t>
            </a:r>
          </a:p>
          <a:p>
            <a:r>
              <a:rPr lang="en-US" sz="1500"/>
              <a:t>Pre-med College Student </a:t>
            </a:r>
          </a:p>
          <a:p>
            <a:r>
              <a:rPr lang="en-US" sz="1500"/>
              <a:t>From: Boston, MA</a:t>
            </a:r>
          </a:p>
          <a:p>
            <a:r>
              <a:rPr lang="en-US" sz="1500"/>
              <a:t>College Location: New Jersey </a:t>
            </a:r>
          </a:p>
        </p:txBody>
      </p:sp>
      <p:sp>
        <p:nvSpPr>
          <p:cNvPr id="9" name="TextBox 8">
            <a:extLst>
              <a:ext uri="{FF2B5EF4-FFF2-40B4-BE49-F238E27FC236}">
                <a16:creationId xmlns:a16="http://schemas.microsoft.com/office/drawing/2014/main" id="{AF67D059-7A83-0A8A-D544-4F1AD77E60AB}"/>
              </a:ext>
            </a:extLst>
          </p:cNvPr>
          <p:cNvSpPr txBox="1"/>
          <p:nvPr/>
        </p:nvSpPr>
        <p:spPr>
          <a:xfrm>
            <a:off x="7475055" y="702315"/>
            <a:ext cx="3881929" cy="1246495"/>
          </a:xfrm>
          <a:prstGeom prst="rect">
            <a:avLst/>
          </a:prstGeom>
          <a:noFill/>
        </p:spPr>
        <p:txBody>
          <a:bodyPr wrap="square" rtlCol="0">
            <a:spAutoFit/>
          </a:bodyPr>
          <a:lstStyle/>
          <a:p>
            <a:r>
              <a:rPr lang="en-US" sz="1500" b="1"/>
              <a:t>Motivation</a:t>
            </a:r>
          </a:p>
          <a:p>
            <a:r>
              <a:rPr lang="en-US" sz="1500"/>
              <a:t> To find a dog that best suits a college student lifestyle and to keep her company. She wants something that would help her to figure out what kind of dog she wants.</a:t>
            </a:r>
          </a:p>
        </p:txBody>
      </p:sp>
      <p:sp>
        <p:nvSpPr>
          <p:cNvPr id="11" name="TextBox 10">
            <a:extLst>
              <a:ext uri="{FF2B5EF4-FFF2-40B4-BE49-F238E27FC236}">
                <a16:creationId xmlns:a16="http://schemas.microsoft.com/office/drawing/2014/main" id="{B73ABA54-35AF-0EC5-0983-73E986F472CF}"/>
              </a:ext>
            </a:extLst>
          </p:cNvPr>
          <p:cNvSpPr txBox="1"/>
          <p:nvPr/>
        </p:nvSpPr>
        <p:spPr>
          <a:xfrm>
            <a:off x="7372351" y="2325014"/>
            <a:ext cx="4087338" cy="1015663"/>
          </a:xfrm>
          <a:prstGeom prst="rect">
            <a:avLst/>
          </a:prstGeom>
          <a:noFill/>
        </p:spPr>
        <p:txBody>
          <a:bodyPr wrap="square" rtlCol="0">
            <a:spAutoFit/>
          </a:bodyPr>
          <a:lstStyle/>
          <a:p>
            <a:r>
              <a:rPr lang="en-US" sz="1500" b="1"/>
              <a:t>Goals</a:t>
            </a:r>
          </a:p>
          <a:p>
            <a:r>
              <a:rPr lang="en-US" sz="1500"/>
              <a:t>- Wants a easy to maneuver website </a:t>
            </a:r>
          </a:p>
          <a:p>
            <a:r>
              <a:rPr lang="en-US" sz="1500"/>
              <a:t>- Doesn’t have to fill out to many applications </a:t>
            </a:r>
          </a:p>
          <a:p>
            <a:r>
              <a:rPr lang="en-US" sz="1500"/>
              <a:t>- Reminded of any important deadlines</a:t>
            </a:r>
          </a:p>
        </p:txBody>
      </p:sp>
      <p:pic>
        <p:nvPicPr>
          <p:cNvPr id="27" name="Picture 26" descr="A person with long curly hair&#10;&#10;Description automatically generated">
            <a:extLst>
              <a:ext uri="{FF2B5EF4-FFF2-40B4-BE49-F238E27FC236}">
                <a16:creationId xmlns:a16="http://schemas.microsoft.com/office/drawing/2014/main" id="{133D6733-B80F-AEC3-4DD1-A6B6408CDDC3}"/>
              </a:ext>
            </a:extLst>
          </p:cNvPr>
          <p:cNvPicPr>
            <a:picLocks noChangeAspect="1"/>
          </p:cNvPicPr>
          <p:nvPr/>
        </p:nvPicPr>
        <p:blipFill rotWithShape="1">
          <a:blip r:embed="rId2"/>
          <a:srcRect l="5440" t="7273" r="8846" b="7359"/>
          <a:stretch/>
        </p:blipFill>
        <p:spPr>
          <a:xfrm>
            <a:off x="439099" y="1907885"/>
            <a:ext cx="3938078" cy="3922167"/>
          </a:xfrm>
          <a:prstGeom prst="rect">
            <a:avLst/>
          </a:prstGeom>
        </p:spPr>
      </p:pic>
      <p:sp>
        <p:nvSpPr>
          <p:cNvPr id="28" name="TextBox 27">
            <a:extLst>
              <a:ext uri="{FF2B5EF4-FFF2-40B4-BE49-F238E27FC236}">
                <a16:creationId xmlns:a16="http://schemas.microsoft.com/office/drawing/2014/main" id="{07110264-4E80-45E8-AFF9-7C918B3C1923}"/>
              </a:ext>
            </a:extLst>
          </p:cNvPr>
          <p:cNvSpPr txBox="1"/>
          <p:nvPr/>
        </p:nvSpPr>
        <p:spPr>
          <a:xfrm>
            <a:off x="4668616" y="3201242"/>
            <a:ext cx="2484236" cy="1246495"/>
          </a:xfrm>
          <a:prstGeom prst="rect">
            <a:avLst/>
          </a:prstGeom>
          <a:noFill/>
        </p:spPr>
        <p:txBody>
          <a:bodyPr wrap="square" rtlCol="0">
            <a:spAutoFit/>
          </a:bodyPr>
          <a:lstStyle/>
          <a:p>
            <a:r>
              <a:rPr lang="en-US" sz="1500" b="1"/>
              <a:t>Preferred Channels:</a:t>
            </a:r>
          </a:p>
          <a:p>
            <a:r>
              <a:rPr lang="en-US" sz="1500"/>
              <a:t>- Mostly uses Google Chrome</a:t>
            </a:r>
          </a:p>
          <a:p>
            <a:r>
              <a:rPr lang="en-US" sz="1500"/>
              <a:t>- Sometimes uses Safari</a:t>
            </a:r>
          </a:p>
          <a:p>
            <a:r>
              <a:rPr lang="en-US" sz="1500"/>
              <a:t>- Has a mac computer </a:t>
            </a:r>
          </a:p>
        </p:txBody>
      </p:sp>
    </p:spTree>
    <p:extLst>
      <p:ext uri="{BB962C8B-B14F-4D97-AF65-F5344CB8AC3E}">
        <p14:creationId xmlns:p14="http://schemas.microsoft.com/office/powerpoint/2010/main" val="2985302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Slides>
  <Notes>0</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Pet Adoption Website</vt:lpstr>
      <vt:lpstr>Samatha Guzman</vt:lpstr>
      <vt:lpstr>Daniel Miller</vt:lpstr>
      <vt:lpstr>PowerPoint Presentation</vt:lpstr>
      <vt:lpstr>Unique Jones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 Shanique</dc:creator>
  <cp:revision>2</cp:revision>
  <dcterms:created xsi:type="dcterms:W3CDTF">2024-09-27T02:15:48Z</dcterms:created>
  <dcterms:modified xsi:type="dcterms:W3CDTF">2024-10-09T18:12:38Z</dcterms:modified>
</cp:coreProperties>
</file>